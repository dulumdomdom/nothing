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256" r:id="rId2"/>
    <p:sldId id="257" r:id="rId3"/>
    <p:sldId id="258" r:id="rId4"/>
    <p:sldId id="259" r:id="rId5"/>
    <p:sldId id="260" r:id="rId6"/>
    <p:sldId id="267" r:id="rId7"/>
    <p:sldId id="261" r:id="rId8"/>
    <p:sldId id="262" r:id="rId9"/>
    <p:sldId id="263" r:id="rId10"/>
    <p:sldId id="283" r:id="rId11"/>
    <p:sldId id="264" r:id="rId12"/>
    <p:sldId id="265" r:id="rId13"/>
    <p:sldId id="266" r:id="rId14"/>
    <p:sldId id="268" r:id="rId15"/>
    <p:sldId id="269" r:id="rId16"/>
    <p:sldId id="270" r:id="rId17"/>
    <p:sldId id="273" r:id="rId18"/>
    <p:sldId id="274" r:id="rId19"/>
    <p:sldId id="277" r:id="rId20"/>
    <p:sldId id="278" r:id="rId21"/>
    <p:sldId id="275" r:id="rId22"/>
    <p:sldId id="280" r:id="rId23"/>
    <p:sldId id="281" r:id="rId24"/>
    <p:sldId id="282" r:id="rId25"/>
    <p:sldId id="276" r:id="rId26"/>
    <p:sldId id="27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FE2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64" autoAdjust="0"/>
    <p:restoredTop sz="86375" autoAdjust="0"/>
  </p:normalViewPr>
  <p:slideViewPr>
    <p:cSldViewPr snapToGrid="0" snapToObjects="1">
      <p:cViewPr>
        <p:scale>
          <a:sx n="66" d="100"/>
          <a:sy n="66" d="100"/>
        </p:scale>
        <p:origin x="-572" y="21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264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7C20B7-65B1-460B-9FEE-5B0E7D618511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DB8210-1CEF-42AB-85CA-1881BBC1FB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1839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FB0FC7-068E-4198-9ADE-2070298BD956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FA892-0CF0-424A-93B5-94E70DDF60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186652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FFA892-0CF0-424A-93B5-94E70DDF600E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94562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FFA892-0CF0-424A-93B5-94E70DDF600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94553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FFA892-0CF0-424A-93B5-94E70DDF600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4515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72AD-20FE-43AA-9C78-53494498DE8A}" type="datetime1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231C6-6893-4E74-B789-E2831F6B965F}" type="datetime1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87231-6B9B-4656-8857-B3B03AA9A637}" type="datetime1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A9EE2-41C8-4E90-979A-05990CE929A6}" type="datetime1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E510C-3D7D-4754-BCDC-41DD58F635CA}" type="datetime1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823D1-ECF2-4BE9-AF1B-1EFD672B16F0}" type="datetime1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2D30A-ED29-4ED4-8268-9B55AAC3476B}" type="datetime1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9F19A-EB7E-456C-B989-89FCD8894EB3}" type="datetime1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978BCD-C78A-490D-9C69-D3C3A46B44E0}" type="datetime1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35A7E-F911-4762-A529-EDE1948DF7DC}" type="datetime1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52D17-B5C5-465B-8912-02E04564B17C}" type="datetime1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E3416-0122-4AB3-B70B-0CC565A2D040}" type="datetime1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6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71898" y="1177047"/>
            <a:ext cx="9910630" cy="230832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sz="4800" dirty="0" err="1">
                <a:solidFill>
                  <a:schemeClr val="bg1">
                    <a:lumMod val="95000"/>
                  </a:schemeClr>
                </a:solidFill>
              </a:rPr>
              <a:t>Разработка</a:t>
            </a:r>
            <a:r>
              <a:rPr sz="4800" dirty="0">
                <a:solidFill>
                  <a:schemeClr val="bg1">
                    <a:lumMod val="95000"/>
                  </a:schemeClr>
                </a:solidFill>
              </a:rPr>
              <a:t> Master Data Management</a:t>
            </a:r>
            <a:br>
              <a:rPr sz="48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4800" dirty="0" err="1">
                <a:solidFill>
                  <a:schemeClr val="bg1">
                    <a:lumMod val="95000"/>
                  </a:schemeClr>
                </a:solidFill>
              </a:rPr>
              <a:t>системы</a:t>
            </a:r>
            <a:r>
              <a:rPr sz="48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4800" dirty="0" err="1">
                <a:solidFill>
                  <a:schemeClr val="bg1">
                    <a:lumMod val="95000"/>
                  </a:schemeClr>
                </a:solidFill>
              </a:rPr>
              <a:t>для</a:t>
            </a:r>
            <a:r>
              <a:rPr sz="48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4800" dirty="0" err="1">
                <a:solidFill>
                  <a:schemeClr val="bg1">
                    <a:lumMod val="95000"/>
                  </a:schemeClr>
                </a:solidFill>
              </a:rPr>
              <a:t>завода</a:t>
            </a:r>
            <a:r>
              <a:rPr sz="4800" dirty="0">
                <a:solidFill>
                  <a:schemeClr val="bg1">
                    <a:lumMod val="95000"/>
                  </a:schemeClr>
                </a:solidFill>
              </a:rPr>
              <a:t> АО «ММЗ»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898" y="3674054"/>
            <a:ext cx="7315200" cy="107978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450"/>
              </a:spcAft>
              <a:defRPr sz="1500">
                <a:solidFill>
                  <a:srgbClr val="B9E5FA"/>
                </a:solidFill>
                <a:latin typeface="Segoe UI"/>
              </a:defRPr>
            </a:pPr>
            <a:r>
              <a:rPr dirty="0" err="1" smtClean="0">
                <a:solidFill>
                  <a:schemeClr val="bg1">
                    <a:lumMod val="9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Студент</a:t>
            </a:r>
            <a:r>
              <a:rPr dirty="0" smtClean="0">
                <a:solidFill>
                  <a:schemeClr val="bg1">
                    <a:lumMod val="9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: </a:t>
            </a:r>
            <a:r>
              <a:rPr lang="ru-RU" dirty="0" smtClean="0">
                <a:solidFill>
                  <a:schemeClr val="bg1">
                    <a:lumMod val="9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Ильин</a:t>
            </a:r>
            <a:r>
              <a:rPr dirty="0" smtClean="0">
                <a:solidFill>
                  <a:schemeClr val="bg1">
                    <a:lumMod val="9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ru-RU" dirty="0" smtClean="0">
                <a:solidFill>
                  <a:schemeClr val="bg1">
                    <a:lumMod val="9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Артем</a:t>
            </a:r>
            <a:r>
              <a:rPr dirty="0" smtClean="0">
                <a:solidFill>
                  <a:schemeClr val="bg1">
                    <a:lumMod val="9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ru-RU" dirty="0" smtClean="0">
                <a:solidFill>
                  <a:schemeClr val="bg1">
                    <a:lumMod val="9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Анатольевич, группа ПС-41</a:t>
            </a:r>
            <a:endParaRPr dirty="0">
              <a:solidFill>
                <a:schemeClr val="bg1">
                  <a:lumMod val="95000"/>
                </a:scheme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r>
              <a:rPr sz="1500" dirty="0" err="1">
                <a:solidFill>
                  <a:schemeClr val="bg1">
                    <a:lumMod val="9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Руководитель</a:t>
            </a:r>
            <a:r>
              <a:rPr sz="1500" dirty="0">
                <a:solidFill>
                  <a:schemeClr val="bg1">
                    <a:lumMod val="9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: </a:t>
            </a:r>
            <a:r>
              <a:rPr lang="ru-RU" sz="1500" dirty="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Петров Дмитрий Ильич</a:t>
            </a:r>
            <a:br>
              <a:rPr lang="ru-RU" sz="1500" dirty="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ru-RU" sz="1500" dirty="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Доцент кафедры </a:t>
            </a:r>
            <a:r>
              <a:rPr lang="ru-RU" sz="1500" dirty="0" err="1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ИиСП</a:t>
            </a:r>
            <a:r>
              <a:rPr lang="ru-RU" sz="1500" dirty="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, исполнительный</a:t>
            </a:r>
            <a:endParaRPr lang="en-US" sz="1500" dirty="0" smtClean="0">
              <a:solidFill>
                <a:schemeClr val="bg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r>
              <a:rPr lang="ru-RU" sz="1500" dirty="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директор АРПО </a:t>
            </a:r>
            <a:r>
              <a:rPr lang="en-US" sz="1500" dirty="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“</a:t>
            </a:r>
            <a:r>
              <a:rPr lang="ru-RU" sz="1500" dirty="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ПС СОФТ</a:t>
            </a:r>
            <a:r>
              <a:rPr lang="en-US" sz="1500" dirty="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”</a:t>
            </a:r>
            <a:endParaRPr lang="ru-RU" sz="1500" dirty="0" smtClean="0">
              <a:solidFill>
                <a:schemeClr val="bg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1027" name="Picture 3" descr="C:\Users\dulum\Downloads\logo-blue.png"/>
          <p:cNvPicPr>
            <a:picLocks noChangeAspect="1" noChangeArrowheads="1"/>
          </p:cNvPicPr>
          <p:nvPr/>
        </p:nvPicPr>
        <p:blipFill>
          <a:blip r:embed="rId3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" y="5484776"/>
            <a:ext cx="4133851" cy="108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dulum\Downloads\logo- (1)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728" y="5514227"/>
            <a:ext cx="4133850" cy="1029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/>
          <p:cNvSpPr/>
          <p:nvPr/>
        </p:nvSpPr>
        <p:spPr>
          <a:xfrm>
            <a:off x="1071898" y="289480"/>
            <a:ext cx="10262680" cy="5835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3000"/>
              </a:lnSpc>
            </a:pPr>
            <a:r>
              <a:rPr lang="en-US" sz="2400" dirty="0" err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Выпускная</a:t>
            </a:r>
            <a:r>
              <a:rPr lang="en-US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квалификационная</a:t>
            </a:r>
            <a:r>
              <a:rPr lang="en-US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работа</a:t>
            </a:r>
            <a:r>
              <a:rPr lang="en-US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 · </a:t>
            </a:r>
            <a:r>
              <a:rPr lang="en-US" sz="2400" dirty="0" err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Кафедра</a:t>
            </a:r>
            <a:r>
              <a:rPr lang="en-US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 И</a:t>
            </a:r>
            <a:r>
              <a:rPr lang="ru-RU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и</a:t>
            </a:r>
            <a:r>
              <a:rPr lang="en-US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СП ·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454356" y="179754"/>
            <a:ext cx="32829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3600" dirty="0" err="1"/>
              <a:t>Актуальность</a:t>
            </a:r>
            <a:endParaRPr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964855" y="1087883"/>
            <a:ext cx="105624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7DBA"/>
                </a:solidFill>
                <a:latin typeface="Segoe UI"/>
              </a:defRPr>
            </a:pPr>
            <a:r>
              <a:rPr sz="2800" dirty="0" err="1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Проблема</a:t>
            </a:r>
            <a:r>
              <a:rPr sz="2800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800" dirty="0" err="1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разрозненных</a:t>
            </a:r>
            <a:r>
              <a:rPr sz="2800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800" dirty="0" err="1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данных</a:t>
            </a:r>
            <a:r>
              <a:rPr sz="2800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800" dirty="0" err="1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на</a:t>
            </a:r>
            <a:r>
              <a:rPr sz="2800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800" dirty="0" err="1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заводе</a:t>
            </a:r>
            <a:r>
              <a:rPr sz="2800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АО «ММЗ»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855" y="1755980"/>
            <a:ext cx="10350951" cy="5037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На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заводе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используются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несколько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учётных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систем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:</a:t>
            </a:r>
          </a:p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 </a:t>
            </a:r>
            <a:r>
              <a:rPr sz="23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1С:ERP 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—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управление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ресурсами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предприятия</a:t>
            </a:r>
            <a:endParaRPr sz="23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 </a:t>
            </a:r>
            <a:r>
              <a:rPr sz="23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АСУ 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ММЗ —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управление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производством</a:t>
            </a:r>
            <a:endParaRPr sz="23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 </a:t>
            </a:r>
            <a:r>
              <a:rPr sz="23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IPS 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Search —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поиск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нормативно-справочной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информации</a:t>
            </a:r>
            <a:endParaRPr sz="23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 </a:t>
            </a:r>
            <a:r>
              <a:rPr sz="23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1С:Документооборот 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—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управление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 smtClean="0">
                <a:latin typeface="Segoe UI Black" panose="020B0A02040204020203" pitchFamily="34" charset="0"/>
                <a:ea typeface="Segoe UI Black" panose="020B0A02040204020203" pitchFamily="34" charset="0"/>
              </a:rPr>
              <a:t>документацией</a:t>
            </a:r>
            <a:endParaRPr lang="en-US" sz="23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endParaRPr sz="23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Один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и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тот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же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материал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имеет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разные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названия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в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разных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системах</a:t>
            </a:r>
            <a:r>
              <a:rPr sz="23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.</a:t>
            </a:r>
            <a:endParaRPr lang="en-US" sz="2300" dirty="0" smtClean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endParaRPr sz="23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Нет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единого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источника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правды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—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ручная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синхронизация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приводит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к</a:t>
            </a:r>
            <a:r>
              <a:rPr lang="ru-RU" sz="23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 smtClean="0">
                <a:latin typeface="Segoe UI Black" panose="020B0A02040204020203" pitchFamily="34" charset="0"/>
                <a:ea typeface="Segoe UI Black" panose="020B0A02040204020203" pitchFamily="34" charset="0"/>
              </a:rPr>
              <a:t>ошибкам</a:t>
            </a:r>
            <a:r>
              <a:rPr sz="23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в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закупках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отгрузках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и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производственном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3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учёте</a:t>
            </a:r>
            <a:r>
              <a:rPr sz="2300" dirty="0">
                <a:latin typeface="Segoe UI Black" panose="020B0A02040204020203" pitchFamily="34" charset="0"/>
                <a:ea typeface="Segoe UI Black" panose="020B0A02040204020203" pitchFamily="34" charset="0"/>
              </a:rPr>
              <a:t>.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11190195" y="6229936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2955" y="179754"/>
            <a:ext cx="354578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3600" dirty="0" err="1"/>
              <a:t>Цель</a:t>
            </a:r>
            <a:r>
              <a:rPr sz="3600" dirty="0"/>
              <a:t> и </a:t>
            </a:r>
            <a:r>
              <a:rPr sz="3600" dirty="0" err="1"/>
              <a:t>задачи</a:t>
            </a:r>
            <a:endParaRPr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398830" y="1476183"/>
            <a:ext cx="629379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7DBA"/>
                </a:solidFill>
                <a:latin typeface="Segoe UI"/>
              </a:defRPr>
            </a:pP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Разработка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веб-приложения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MDM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8830" y="2216278"/>
            <a:ext cx="63502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680"/>
                </a:solidFill>
                <a:latin typeface="Segoe UI"/>
              </a:defRPr>
            </a:pPr>
            <a:r>
              <a:rPr sz="2400" dirty="0" err="1"/>
              <a:t>Цель</a:t>
            </a:r>
            <a:r>
              <a:rPr sz="2400" dirty="0"/>
              <a:t>: </a:t>
            </a:r>
            <a:r>
              <a:rPr sz="2400" dirty="0" err="1"/>
              <a:t>создать</a:t>
            </a:r>
            <a:r>
              <a:rPr sz="2400" dirty="0"/>
              <a:t> </a:t>
            </a:r>
            <a:r>
              <a:rPr sz="2400" dirty="0" err="1"/>
              <a:t>веб-приложение</a:t>
            </a:r>
            <a:r>
              <a:rPr sz="2400" dirty="0"/>
              <a:t> </a:t>
            </a:r>
            <a:r>
              <a:rPr sz="2400" dirty="0" err="1"/>
              <a:t>для</a:t>
            </a:r>
            <a:r>
              <a:rPr sz="2400" dirty="0"/>
              <a:t> </a:t>
            </a:r>
            <a:r>
              <a:rPr sz="2400" dirty="0" err="1"/>
              <a:t>централизованного</a:t>
            </a:r>
            <a:r>
              <a:rPr sz="2400" dirty="0"/>
              <a:t> </a:t>
            </a:r>
            <a:r>
              <a:rPr sz="2400" dirty="0" err="1"/>
              <a:t>управления</a:t>
            </a:r>
            <a:r>
              <a:rPr sz="2400" dirty="0"/>
              <a:t> </a:t>
            </a:r>
            <a:r>
              <a:rPr sz="2400" dirty="0" err="1"/>
              <a:t>мастер-данными</a:t>
            </a:r>
            <a:r>
              <a:rPr sz="2400" dirty="0"/>
              <a:t> </a:t>
            </a:r>
            <a:r>
              <a:rPr sz="2400" dirty="0" err="1" smtClean="0"/>
              <a:t>завода</a:t>
            </a:r>
            <a:endParaRPr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1018981" y="3824918"/>
            <a:ext cx="10153731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Задачи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:</a:t>
            </a:r>
          </a:p>
          <a:p>
            <a:pPr marL="342900" indent="-3429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 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Управление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справочниками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с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произвольными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атрибутами</a:t>
            </a:r>
            <a:endParaRPr sz="2000" dirty="0">
              <a:solidFill>
                <a:schemeClr val="tx2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342900" indent="-3429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  CRUD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записей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с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иерархией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версионированием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мягким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удалением</a:t>
            </a:r>
            <a:endParaRPr sz="2000" dirty="0">
              <a:solidFill>
                <a:schemeClr val="tx2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342900" indent="-3429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 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Классификаторы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с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фасетной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структурой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и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декодированием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шифров</a:t>
            </a:r>
            <a:endParaRPr sz="2000" dirty="0">
              <a:solidFill>
                <a:schemeClr val="tx2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342900" indent="-3429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 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Шина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интеграции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: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вебхуки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+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обработка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конфликтов</a:t>
            </a:r>
            <a:endParaRPr sz="2000" dirty="0">
              <a:solidFill>
                <a:schemeClr val="tx2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342900" indent="-3429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 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Импорт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/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экспорт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CSV,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аутентификация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(JWT),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веб-интерфейс</a:t>
            </a:r>
            <a:endParaRPr sz="2000" dirty="0">
              <a:solidFill>
                <a:schemeClr val="tx2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342900" indent="-3429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 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Контроль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качества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данных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и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аудит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изменений</a:t>
            </a:r>
            <a:endParaRPr sz="2000" dirty="0">
              <a:solidFill>
                <a:schemeClr val="tx2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0831" y="1227242"/>
            <a:ext cx="5067672" cy="2871639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3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058389" y="179754"/>
            <a:ext cx="40749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3600" dirty="0" err="1"/>
              <a:t>Анализ</a:t>
            </a:r>
            <a:r>
              <a:rPr sz="3600" dirty="0"/>
              <a:t> </a:t>
            </a:r>
            <a:r>
              <a:rPr sz="3600" dirty="0" err="1"/>
              <a:t>аналогов</a:t>
            </a:r>
            <a:endParaRPr sz="3600" dirty="0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200400" cy="45720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446311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Продукт</a:t>
            </a:r>
            <a:endParaRPr sz="1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114800" y="1371600"/>
            <a:ext cx="3657600" cy="45720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14800" y="1446310"/>
            <a:ext cx="3657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Плюсы</a:t>
            </a:r>
            <a:endParaRPr sz="1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955279" y="1371600"/>
            <a:ext cx="3474720" cy="45720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955279" y="1446311"/>
            <a:ext cx="3474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Минусы</a:t>
            </a:r>
            <a:endParaRPr sz="1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31520" y="1920240"/>
            <a:ext cx="3200400" cy="457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1994951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4680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Informatica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MDM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1920240"/>
            <a:ext cx="3657600" cy="457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14799" y="1994951"/>
            <a:ext cx="3657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Полнофункциональный</a:t>
            </a:r>
            <a:endParaRPr sz="1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955279" y="1920240"/>
            <a:ext cx="3474720" cy="457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955279" y="1994950"/>
            <a:ext cx="3474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Дорогой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избыточен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для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завода</a:t>
            </a:r>
            <a:endParaRPr sz="1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31520" y="2423160"/>
            <a:ext cx="3200400" cy="457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31520" y="2497871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4680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Ataccama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2423160"/>
            <a:ext cx="3657600" cy="457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114800" y="2497870"/>
            <a:ext cx="3657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Умный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data catalog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79" y="2423160"/>
            <a:ext cx="3474720" cy="457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955279" y="2469661"/>
            <a:ext cx="3474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Высокая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стоимость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сложный</a:t>
            </a:r>
            <a:endParaRPr sz="1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31520" y="2926080"/>
            <a:ext cx="3200400" cy="457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31520" y="3000791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4680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Talend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MDM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2926080"/>
            <a:ext cx="3657600" cy="457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114799" y="2989118"/>
            <a:ext cx="3657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Open-source </a:t>
            </a: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база</a:t>
            </a:r>
            <a:endParaRPr sz="1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7955279" y="2926080"/>
            <a:ext cx="3474720" cy="457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955279" y="2989117"/>
            <a:ext cx="3474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Ограниченная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функциональность</a:t>
            </a:r>
            <a:endParaRPr sz="1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31520" y="3866745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7DBA"/>
                </a:solidFill>
                <a:latin typeface="Segoe UI"/>
              </a:defRPr>
            </a:pPr>
            <a:r>
              <a:rPr sz="2400" dirty="0" err="1"/>
              <a:t>Вывод</a:t>
            </a:r>
            <a:r>
              <a:rPr sz="2400" dirty="0"/>
              <a:t>: </a:t>
            </a:r>
            <a:r>
              <a:rPr sz="2400" dirty="0" err="1"/>
              <a:t>необходима</a:t>
            </a:r>
            <a:r>
              <a:rPr sz="2400" dirty="0"/>
              <a:t> </a:t>
            </a:r>
            <a:r>
              <a:rPr sz="2400" dirty="0" err="1"/>
              <a:t>собственная</a:t>
            </a:r>
            <a:r>
              <a:rPr sz="2400" dirty="0"/>
              <a:t> </a:t>
            </a:r>
            <a:r>
              <a:rPr sz="2400" dirty="0" err="1"/>
              <a:t>разработка</a:t>
            </a:r>
            <a:r>
              <a:rPr sz="2400" dirty="0"/>
              <a:t> </a:t>
            </a:r>
            <a:r>
              <a:rPr sz="2400" dirty="0" err="1"/>
              <a:t>под</a:t>
            </a:r>
            <a:r>
              <a:rPr sz="2400" dirty="0"/>
              <a:t> </a:t>
            </a:r>
            <a:r>
              <a:rPr sz="2400" dirty="0" err="1"/>
              <a:t>специфику</a:t>
            </a:r>
            <a:r>
              <a:rPr sz="2400" dirty="0"/>
              <a:t> </a:t>
            </a:r>
            <a:r>
              <a:rPr sz="2400" dirty="0" err="1"/>
              <a:t>завода</a:t>
            </a:r>
            <a:endParaRPr sz="2400" dirty="0"/>
          </a:p>
        </p:txBody>
      </p:sp>
      <p:sp>
        <p:nvSpPr>
          <p:cNvPr id="31" name="TextBox 30"/>
          <p:cNvSpPr txBox="1"/>
          <p:nvPr/>
        </p:nvSpPr>
        <p:spPr>
          <a:xfrm>
            <a:off x="731520" y="4542817"/>
            <a:ext cx="10515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Segoe UI"/>
              </a:defRPr>
            </a:pPr>
            <a:r>
              <a:rPr sz="24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Ключевое</a:t>
            </a:r>
            <a:r>
              <a:rPr sz="24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отличие</a:t>
            </a:r>
            <a:r>
              <a:rPr sz="24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: </a:t>
            </a:r>
            <a:r>
              <a:rPr sz="24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фасетные</a:t>
            </a:r>
            <a:r>
              <a:rPr sz="24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классификаторы</a:t>
            </a:r>
            <a:r>
              <a:rPr sz="24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с </a:t>
            </a:r>
            <a:r>
              <a:rPr sz="24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декодированием</a:t>
            </a:r>
            <a:r>
              <a:rPr sz="24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шифров</a:t>
            </a:r>
            <a:r>
              <a:rPr sz="24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smtClean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—</a:t>
            </a:r>
            <a:r>
              <a:rPr lang="ru-RU" sz="2400" dirty="0" smtClean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 smtClean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функция</a:t>
            </a:r>
            <a:r>
              <a:rPr sz="24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endParaRPr lang="ru-RU" sz="2400" dirty="0" smtClean="0">
              <a:solidFill>
                <a:schemeClr val="tx2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algn="l">
              <a:defRPr sz="1500" b="0">
                <a:solidFill>
                  <a:srgbClr val="333333"/>
                </a:solidFill>
                <a:latin typeface="Segoe UI"/>
              </a:defRPr>
            </a:pPr>
            <a:r>
              <a:rPr sz="2400" dirty="0" err="1" smtClean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отсутствующая</a:t>
            </a:r>
            <a:r>
              <a:rPr sz="2400" dirty="0" smtClean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в </a:t>
            </a:r>
            <a:r>
              <a:rPr sz="24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рассмотренных</a:t>
            </a:r>
            <a:r>
              <a:rPr sz="24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аналогах</a:t>
            </a:r>
            <a:endParaRPr sz="2400" dirty="0">
              <a:solidFill>
                <a:schemeClr val="tx2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10840870" y="6054593"/>
            <a:ext cx="6864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4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</a:p>
          <a:p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854311" y="179754"/>
            <a:ext cx="44597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3600" dirty="0" err="1"/>
              <a:t>Выбор</a:t>
            </a:r>
            <a:r>
              <a:rPr sz="3600" dirty="0"/>
              <a:t> </a:t>
            </a:r>
            <a:r>
              <a:rPr sz="3600" dirty="0" err="1"/>
              <a:t>технологий</a:t>
            </a:r>
            <a:endParaRPr sz="3600" dirty="0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2560320" cy="2743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560320" cy="5486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88418"/>
            <a:ext cx="23774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C# ASP.NET Core 9</a:t>
            </a:r>
            <a:b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Entity </a:t>
            </a:r>
            <a:r>
              <a:rPr sz="1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Framework</a:t>
            </a: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/>
            </a:r>
            <a:b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REST API + JWT </a:t>
            </a:r>
            <a:r>
              <a:rPr sz="1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Auth</a:t>
            </a:r>
            <a:endParaRPr sz="16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566160" y="1463040"/>
            <a:ext cx="2560320" cy="2743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66160" y="1463040"/>
            <a:ext cx="2560320" cy="548640"/>
          </a:xfrm>
          <a:prstGeom prst="rect">
            <a:avLst/>
          </a:prstGeom>
          <a:solidFill>
            <a:srgbClr val="007D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35527" y="15544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588418"/>
            <a:ext cx="21945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Vue</a:t>
            </a: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3 + </a:t>
            </a:r>
            <a:r>
              <a:rPr sz="1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Pinia</a:t>
            </a: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/>
            </a:r>
            <a:b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sz="1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Vue</a:t>
            </a: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Router + </a:t>
            </a:r>
            <a:r>
              <a:rPr sz="1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Axios</a:t>
            </a: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/>
            </a:r>
            <a:b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sz="1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Vite</a:t>
            </a: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(</a:t>
            </a:r>
            <a:r>
              <a:rPr sz="1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сборка</a:t>
            </a: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463040"/>
            <a:ext cx="2560320" cy="2743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0" y="1463040"/>
            <a:ext cx="2560320" cy="5486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15544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данных</a:t>
            </a:r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6583680" y="2588416"/>
            <a:ext cx="21945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PostgreSQL </a:t>
            </a: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(prod)</a:t>
            </a:r>
            <a:b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SQLite (dev/test)</a:t>
            </a:r>
            <a:b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EF Core ORM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1463040"/>
            <a:ext cx="2560320" cy="2743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235440" y="1463040"/>
            <a:ext cx="2560320" cy="548640"/>
          </a:xfrm>
          <a:prstGeom prst="rect">
            <a:avLst/>
          </a:prstGeom>
          <a:solidFill>
            <a:srgbClr val="007D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40" y="15544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rPr dirty="0" err="1"/>
              <a:t>Интеграция</a:t>
            </a:r>
            <a:endParaRPr dirty="0"/>
          </a:p>
        </p:txBody>
      </p:sp>
      <p:sp>
        <p:nvSpPr>
          <p:cNvPr id="21" name="TextBox 20"/>
          <p:cNvSpPr txBox="1"/>
          <p:nvPr/>
        </p:nvSpPr>
        <p:spPr>
          <a:xfrm>
            <a:off x="9418320" y="2588417"/>
            <a:ext cx="21945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Webhook</a:t>
            </a: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HTTPS</a:t>
            </a:r>
            <a:b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JSON payloads</a:t>
            </a:r>
            <a:b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JWT Bearer</a:t>
            </a:r>
          </a:p>
        </p:txBody>
      </p:sp>
      <p:pic>
        <p:nvPicPr>
          <p:cNvPr id="19458" name="Picture 2" descr="C:\Users\dulum\Downloads\Csharp_Logo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" y="4268264"/>
            <a:ext cx="2263066" cy="2263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459" name="Picture 3" descr="C:\Users\dulum\Downloads\Vue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6640" y="4680117"/>
            <a:ext cx="1439359" cy="1439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460" name="Picture 4" descr="C:\Users\dulum\Downloads\Logo_PostgreSQL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9334" y="4733937"/>
            <a:ext cx="1343251" cy="1385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461" name="Picture 5" descr="C:\Users\dulum\Downloads\JWT_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826" y="4268264"/>
            <a:ext cx="2317547" cy="2293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Прямоугольник 24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5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943347" y="141108"/>
            <a:ext cx="6803768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4000" dirty="0" err="1"/>
              <a:t>Варианты</a:t>
            </a:r>
            <a:r>
              <a:rPr sz="4000" dirty="0"/>
              <a:t> </a:t>
            </a:r>
            <a:r>
              <a:rPr sz="4000" dirty="0" err="1" smtClean="0"/>
              <a:t>использования</a:t>
            </a:r>
            <a:endParaRPr lang="en-US" sz="4000" dirty="0"/>
          </a:p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endParaRPr dirty="0"/>
          </a:p>
        </p:txBody>
      </p:sp>
      <p:pic>
        <p:nvPicPr>
          <p:cNvPr id="11267" name="Picture 3" descr="C:\Users\dulum\Desktop\ДИПЛОМ\MDMAgent\for_presentation\png\Use_Cases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4" y="1293516"/>
            <a:ext cx="12068385" cy="4935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6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81778" y="179754"/>
            <a:ext cx="109342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3600" dirty="0" smtClean="0"/>
              <a:t>Контекст. </a:t>
            </a:r>
            <a:r>
              <a:rPr lang="ru-RU" sz="3600" dirty="0" smtClean="0"/>
              <a:t>Пользователи </a:t>
            </a:r>
            <a:r>
              <a:rPr lang="ru-RU" sz="3600" dirty="0" smtClean="0"/>
              <a:t>и внешние системы</a:t>
            </a:r>
            <a:endParaRPr sz="3600" dirty="0"/>
          </a:p>
        </p:txBody>
      </p:sp>
      <p:pic>
        <p:nvPicPr>
          <p:cNvPr id="1026" name="Picture 2" descr="C:\Users\dulum\Desktop\ДИПЛОМ\MDMAgent\for_presentation\png\C4_Context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4649" y="1234916"/>
            <a:ext cx="12316344" cy="5253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7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632032" y="198068"/>
            <a:ext cx="693851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3600" dirty="0" smtClean="0"/>
              <a:t>Контейнеры</a:t>
            </a:r>
            <a:r>
              <a:rPr lang="ru-RU" sz="3600" dirty="0"/>
              <a:t>: </a:t>
            </a:r>
            <a:r>
              <a:rPr lang="en-US" sz="3600" dirty="0"/>
              <a:t>SPA → API → </a:t>
            </a:r>
            <a:r>
              <a:rPr lang="ru-RU" sz="3600" dirty="0"/>
              <a:t>БД</a:t>
            </a:r>
          </a:p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endParaRPr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10941561" y="640279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8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098" name="Picture 2" descr="C:\Users\dulum\Desktop\ДИПЛОМ\MDMAgent\for_presentation\png\C4_Container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31" y="1145404"/>
            <a:ext cx="11999832" cy="5164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15795" y="193087"/>
            <a:ext cx="816010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3600" dirty="0" err="1" smtClean="0"/>
              <a:t>Архитектура</a:t>
            </a:r>
            <a:r>
              <a:rPr lang="ru-RU" sz="3600" dirty="0" smtClean="0"/>
              <a:t>. </a:t>
            </a:r>
            <a:r>
              <a:rPr lang="ru-RU" sz="3600" dirty="0"/>
              <a:t>Компоненты </a:t>
            </a:r>
            <a:r>
              <a:rPr lang="en-US" sz="3600" dirty="0" smtClean="0"/>
              <a:t>Backend</a:t>
            </a:r>
            <a:endParaRPr lang="en-US" sz="3600" dirty="0"/>
          </a:p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endParaRPr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11046307" y="6408549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9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122" name="Picture 2" descr="C:\Users\dulum\Desktop\ДИПЛОМ\MDMAgent\for_presentation\png\C4_Component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644" y="1225593"/>
            <a:ext cx="11771271" cy="5198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542829" y="226035"/>
            <a:ext cx="71060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2800" dirty="0"/>
              <a:t>Архитектура клиентского приложения</a:t>
            </a:r>
            <a:endParaRPr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11274007" y="6366476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10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26" name="Picture 2" descr="C:\Users\dulum\Desktop\ДИПЛОМ\MDMAgent\for_presentation\png\C4_Fronten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16" y="1516292"/>
            <a:ext cx="12093462" cy="4591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8678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070060" y="186253"/>
            <a:ext cx="40515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3600" b="1" dirty="0"/>
              <a:t>М</a:t>
            </a:r>
            <a:r>
              <a:rPr lang="ru-RU" sz="3600" b="1" dirty="0" smtClean="0"/>
              <a:t>одули </a:t>
            </a:r>
            <a:r>
              <a:rPr lang="ru-RU" sz="3600" b="1" dirty="0"/>
              <a:t>системы</a:t>
            </a:r>
            <a:endParaRPr sz="36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10840870" y="6054593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11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050" name="Picture 2" descr="C:\Users\dulum\Desktop\ДИПЛОМ\MDMAgent\for_presentation\png\Functional_Schem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7592" y="1111718"/>
            <a:ext cx="9163945" cy="5678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56936" y="198129"/>
            <a:ext cx="96146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3600" dirty="0" smtClean="0"/>
              <a:t>Сущности </a:t>
            </a:r>
            <a:r>
              <a:rPr lang="ru-RU" sz="3600" dirty="0"/>
              <a:t>и типы хранимой информации</a:t>
            </a:r>
          </a:p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endParaRPr dirty="0"/>
          </a:p>
        </p:txBody>
      </p:sp>
      <p:pic>
        <p:nvPicPr>
          <p:cNvPr id="6146" name="Picture 2" descr="C:\Users\dulum\Desktop\ДИПЛОМ\MDMAgent\for_presentation\png\Information_Schem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8510" y="1188720"/>
            <a:ext cx="9051471" cy="5435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12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127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4000" dirty="0" err="1"/>
              <a:t>Структура</a:t>
            </a:r>
            <a:r>
              <a:rPr sz="4000" dirty="0"/>
              <a:t> </a:t>
            </a:r>
            <a:r>
              <a:rPr sz="4000" dirty="0" err="1"/>
              <a:t>базы</a:t>
            </a:r>
            <a:r>
              <a:rPr sz="4000" dirty="0"/>
              <a:t> </a:t>
            </a:r>
            <a:r>
              <a:rPr sz="4000" dirty="0" err="1"/>
              <a:t>данных</a:t>
            </a:r>
            <a:endParaRPr sz="40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10941666" y="6155645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>
                <a:latin typeface="Segoe UI" panose="020B0502040204020203" pitchFamily="34" charset="0"/>
                <a:cs typeface="Segoe UI" panose="020B0502040204020203" pitchFamily="34" charset="0"/>
              </a:rPr>
              <a:pPr/>
              <a:t>13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074" name="Picture 2" descr="C:\Users\dulum\Desktop\ДИПЛОМ\MDMAgent\for_presentation\png\ER_Diagram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072" y="1551895"/>
            <a:ext cx="11893550" cy="460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71499" y="190500"/>
            <a:ext cx="1259204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3600" dirty="0" err="1"/>
              <a:t>Сценарий</a:t>
            </a:r>
            <a:r>
              <a:rPr sz="3600" dirty="0"/>
              <a:t>: </a:t>
            </a:r>
            <a:r>
              <a:rPr sz="3600" dirty="0" err="1"/>
              <a:t>синхронизация</a:t>
            </a:r>
            <a:r>
              <a:rPr sz="3600" dirty="0"/>
              <a:t> с </a:t>
            </a:r>
            <a:r>
              <a:rPr sz="3600" dirty="0" err="1"/>
              <a:t>внешней</a:t>
            </a:r>
            <a:r>
              <a:rPr sz="3600" dirty="0"/>
              <a:t> </a:t>
            </a:r>
            <a:r>
              <a:rPr sz="3600" dirty="0" err="1" smtClean="0"/>
              <a:t>системой</a:t>
            </a:r>
            <a:endParaRPr lang="ru-RU" sz="3600" dirty="0"/>
          </a:p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endParaRPr sz="2800" dirty="0"/>
          </a:p>
        </p:txBody>
      </p:sp>
      <p:pic>
        <p:nvPicPr>
          <p:cNvPr id="5122" name="Picture 2" descr="C:\Users\dulum\Desktop\ДИПЛОМ\MDMAgent\for_presentation\png\Sequence_Sync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1239" y="1036263"/>
            <a:ext cx="5929215" cy="5821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14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741170" y="148590"/>
            <a:ext cx="106984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4000" dirty="0" err="1"/>
              <a:t>Сценарий</a:t>
            </a:r>
            <a:r>
              <a:rPr sz="4000" dirty="0"/>
              <a:t>: </a:t>
            </a:r>
            <a:r>
              <a:rPr sz="4000" dirty="0" err="1"/>
              <a:t>декодирование</a:t>
            </a:r>
            <a:r>
              <a:rPr sz="4000" dirty="0"/>
              <a:t> </a:t>
            </a:r>
            <a:r>
              <a:rPr sz="4000" dirty="0" err="1" smtClean="0"/>
              <a:t>шифра</a:t>
            </a:r>
            <a:r>
              <a:rPr lang="ru-RU" sz="4000" dirty="0" smtClean="0"/>
              <a:t> </a:t>
            </a:r>
            <a:endParaRPr sz="4000" dirty="0"/>
          </a:p>
        </p:txBody>
      </p:sp>
      <p:pic>
        <p:nvPicPr>
          <p:cNvPr id="4098" name="Picture 2" descr="C:\Users\dulum\Desktop\ДИПЛОМ\MDMAgent\for_presentation\png\Sequence_Decod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9046" y="1110518"/>
            <a:ext cx="6964493" cy="5747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15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80695" y="214791"/>
            <a:ext cx="11811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3600" dirty="0" err="1" smtClean="0"/>
              <a:t>Развёртывание</a:t>
            </a:r>
            <a:r>
              <a:rPr lang="ru-RU" sz="3600" dirty="0" smtClean="0"/>
              <a:t>. </a:t>
            </a:r>
            <a:r>
              <a:rPr lang="ru-RU" sz="3600" dirty="0"/>
              <a:t>Физическая архитектура системы</a:t>
            </a:r>
          </a:p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endParaRPr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10840870" y="6054593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16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2" descr="C:\Users\dulum\Desktop\ДИПЛОМ\MDMAgent\for_presentation\png\Deployment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991" y="1145862"/>
            <a:ext cx="6461146" cy="5712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446020" y="186690"/>
            <a:ext cx="106984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 err="1" smtClean="0"/>
              <a:t>Логинация</a:t>
            </a:r>
            <a:r>
              <a:rPr lang="ru-RU" sz="4000" dirty="0"/>
              <a:t> </a:t>
            </a:r>
            <a:r>
              <a:rPr lang="ru-RU" sz="4000" dirty="0" smtClean="0"/>
              <a:t>и регистрация</a:t>
            </a:r>
            <a:endParaRPr sz="4000" dirty="0"/>
          </a:p>
        </p:txBody>
      </p:sp>
      <p:pic>
        <p:nvPicPr>
          <p:cNvPr id="12293" name="Picture 5" descr="C:\Users\dulum\Pictures\Screenshots\логин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310" y="1450976"/>
            <a:ext cx="5632450" cy="471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 descr="C:\Users\dulum\Pictures\Screenshots\регистрация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2018" y="1450976"/>
            <a:ext cx="4980164" cy="471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/>
          <p:cNvSpPr/>
          <p:nvPr/>
        </p:nvSpPr>
        <p:spPr>
          <a:xfrm>
            <a:off x="10840870" y="6239561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17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30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472963" y="179754"/>
            <a:ext cx="52457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3600" dirty="0" smtClean="0"/>
              <a:t>Список справочников</a:t>
            </a:r>
            <a:endParaRPr sz="3600" dirty="0"/>
          </a:p>
        </p:txBody>
      </p:sp>
      <p:pic>
        <p:nvPicPr>
          <p:cNvPr id="13315" name="Picture 3" descr="C:\Users\dulum\Pictures\Screenshots\список справочников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240" y="1005840"/>
            <a:ext cx="12192000" cy="5852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481434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18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3610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94895" y="179754"/>
            <a:ext cx="56019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3600" dirty="0" smtClean="0"/>
              <a:t>Просмотр справочника</a:t>
            </a:r>
            <a:endParaRPr sz="3600" dirty="0"/>
          </a:p>
        </p:txBody>
      </p:sp>
      <p:pic>
        <p:nvPicPr>
          <p:cNvPr id="14338" name="Picture 2" descr="C:\Users\dulum\Pictures\Screenshots\просмотр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05840"/>
            <a:ext cx="12192000" cy="5852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19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3841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341518" y="179754"/>
            <a:ext cx="55086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3600" dirty="0" smtClean="0"/>
              <a:t>Создание справочника</a:t>
            </a:r>
            <a:endParaRPr sz="3600" dirty="0"/>
          </a:p>
        </p:txBody>
      </p:sp>
      <p:pic>
        <p:nvPicPr>
          <p:cNvPr id="15363" name="Picture 3" descr="C:\Users\dulum\Pictures\Screenshots\Снимок экрана (90)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4197" y="1005840"/>
            <a:ext cx="8623300" cy="5852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20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4615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09453" y="148976"/>
            <a:ext cx="65730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3600" dirty="0" smtClean="0"/>
              <a:t>Просмотр классификаторов</a:t>
            </a:r>
            <a:endParaRPr sz="3600" dirty="0"/>
          </a:p>
        </p:txBody>
      </p:sp>
      <p:pic>
        <p:nvPicPr>
          <p:cNvPr id="17411" name="Picture 3" descr="C:\Users\dulum\Pictures\Screenshots\Снимок экрана (102)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05841"/>
            <a:ext cx="12192000" cy="5852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21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962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13561" y="143950"/>
            <a:ext cx="57645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3600" dirty="0" smtClean="0"/>
              <a:t>Декодирование шифров</a:t>
            </a:r>
            <a:endParaRPr sz="3600" dirty="0"/>
          </a:p>
        </p:txBody>
      </p:sp>
      <p:pic>
        <p:nvPicPr>
          <p:cNvPr id="18435" name="Picture 3" descr="C:\Users\dulum\Pictures\Screenshots\Снимок экрана (101)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1005840"/>
            <a:ext cx="12191696" cy="5933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22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40674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633286" y="179754"/>
            <a:ext cx="29248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3600" dirty="0" err="1" smtClean="0"/>
              <a:t>Интеграция</a:t>
            </a:r>
            <a:endParaRPr sz="3600" dirty="0"/>
          </a:p>
        </p:txBody>
      </p:sp>
      <p:pic>
        <p:nvPicPr>
          <p:cNvPr id="20484" name="Picture 4" descr="C:\Users\dulum\Pictures\Screenshots\Снимок экрана (100)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05" y="1005840"/>
            <a:ext cx="12192000" cy="5852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908247" y="6423925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23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39668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298162" y="179754"/>
            <a:ext cx="35956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3600" dirty="0" smtClean="0"/>
              <a:t>Обмен данных</a:t>
            </a:r>
            <a:endParaRPr sz="3600" dirty="0"/>
          </a:p>
        </p:txBody>
      </p:sp>
      <p:pic>
        <p:nvPicPr>
          <p:cNvPr id="22530" name="Picture 2" descr="C:\Users\dulum\Pictures\Screenshots\Снимок экрана (99)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05840"/>
            <a:ext cx="12192000" cy="5852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282605" y="6424227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24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58298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295299" y="179754"/>
            <a:ext cx="16010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3600" dirty="0" smtClean="0"/>
              <a:t>Аудит</a:t>
            </a:r>
            <a:endParaRPr sz="3600" dirty="0"/>
          </a:p>
        </p:txBody>
      </p:sp>
      <p:pic>
        <p:nvPicPr>
          <p:cNvPr id="21506" name="Picture 2" descr="C:\Users\dulum\Pictures\Screenshots\Снимок экрана (98)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1005840"/>
            <a:ext cx="12191695" cy="5852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1437911" y="6408549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25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3308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5362" y="148977"/>
            <a:ext cx="30409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3600" dirty="0" smtClean="0"/>
              <a:t>Заключение</a:t>
            </a:r>
            <a:endParaRPr sz="3600" dirty="0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5342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lang="ru-RU" sz="26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✓</a:t>
            </a:r>
            <a:r>
              <a:rPr lang="ru-RU"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ru-RU"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Готовая </a:t>
            </a:r>
            <a:r>
              <a:rPr lang="en-US"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MDM-</a:t>
            </a:r>
            <a:r>
              <a:rPr lang="ru-RU"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система и её функции:</a:t>
            </a:r>
            <a:endParaRPr lang="en-US" sz="2600" dirty="0" smtClean="0">
              <a:solidFill>
                <a:schemeClr val="tx2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457200" indent="-4572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Централизованное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управление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НСИ </a:t>
            </a:r>
            <a:endParaRPr lang="en-US" sz="2600" dirty="0" smtClean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457200" indent="-4572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Управление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справочниками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с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произвольными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 smtClean="0">
                <a:latin typeface="Segoe UI Black" panose="020B0A02040204020203" pitchFamily="34" charset="0"/>
                <a:ea typeface="Segoe UI Black" panose="020B0A02040204020203" pitchFamily="34" charset="0"/>
              </a:rPr>
              <a:t>атрибутами</a:t>
            </a:r>
            <a:endParaRPr sz="26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457200" indent="-4572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Классификаторы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с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фасетной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структурой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и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декодированием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шифров</a:t>
            </a:r>
            <a:endParaRPr sz="26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457200" indent="-4572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Шина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интеграции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: 4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внешние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системы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вебхуки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конфликты</a:t>
            </a:r>
            <a:endParaRPr sz="26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457200" indent="-4572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Версионирование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мягкое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удаление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полный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аудит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изменений</a:t>
            </a:r>
            <a:endParaRPr sz="26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457200" indent="-4572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Контроль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качества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 smtClean="0">
                <a:latin typeface="Segoe UI Black" panose="020B0A02040204020203" pitchFamily="34" charset="0"/>
                <a:ea typeface="Segoe UI Black" panose="020B0A02040204020203" pitchFamily="34" charset="0"/>
              </a:rPr>
              <a:t>данных</a:t>
            </a:r>
            <a:endParaRPr sz="26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457200" indent="-4572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Импорт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/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экспорт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CSV,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сопоставление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 smtClean="0">
                <a:latin typeface="Segoe UI Black" panose="020B0A02040204020203" pitchFamily="34" charset="0"/>
                <a:ea typeface="Segoe UI Black" panose="020B0A02040204020203" pitchFamily="34" charset="0"/>
              </a:rPr>
              <a:t>записей</a:t>
            </a:r>
            <a:endParaRPr sz="26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903917" y="6054895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26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9472</TotalTime>
  <Words>410</Words>
  <Application>Microsoft Office PowerPoint</Application>
  <PresentationFormat>Произвольный</PresentationFormat>
  <Paragraphs>108</Paragraphs>
  <Slides>26</Slides>
  <Notes>3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27" baseType="lpstr"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Ильин Артём</dc:creator>
  <dc:description>generated using python-pptx</dc:description>
  <cp:lastModifiedBy>Ильин Артём</cp:lastModifiedBy>
  <cp:revision>48</cp:revision>
  <dcterms:created xsi:type="dcterms:W3CDTF">2013-01-27T09:14:16Z</dcterms:created>
  <dcterms:modified xsi:type="dcterms:W3CDTF">2026-06-10T21:38:48Z</dcterms:modified>
</cp:coreProperties>
</file>