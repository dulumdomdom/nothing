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7" r:id="rId19"/>
    <p:sldId id="278" r:id="rId20"/>
    <p:sldId id="279" r:id="rId21"/>
    <p:sldId id="275" r:id="rId22"/>
    <p:sldId id="280" r:id="rId23"/>
    <p:sldId id="276" r:id="rId24"/>
    <p:sldId id="27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02" autoAdjust="0"/>
  </p:normalViewPr>
  <p:slideViewPr>
    <p:cSldViewPr snapToGrid="0" snapToObjects="1">
      <p:cViewPr varScale="1">
        <p:scale>
          <a:sx n="65" d="100"/>
          <a:sy n="65" d="100"/>
        </p:scale>
        <p:origin x="-672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B0FC7-068E-4198-9ADE-2070298BD956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FA892-0CF0-424A-93B5-94E70DDF6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86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FA892-0CF0-424A-93B5-94E70DDF600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51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898" y="1177047"/>
            <a:ext cx="9910630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4800" dirty="0" err="1">
                <a:solidFill>
                  <a:schemeClr val="bg1">
                    <a:lumMod val="95000"/>
                  </a:schemeClr>
                </a:solidFill>
              </a:rPr>
              <a:t>Разработка</a:t>
            </a:r>
            <a:r>
              <a:rPr sz="4800" dirty="0">
                <a:solidFill>
                  <a:schemeClr val="bg1">
                    <a:lumMod val="95000"/>
                  </a:schemeClr>
                </a:solidFill>
              </a:rPr>
              <a:t> Master Data Management</a:t>
            </a:r>
            <a:br>
              <a:rPr sz="48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4800" dirty="0" err="1">
                <a:solidFill>
                  <a:schemeClr val="bg1">
                    <a:lumMod val="95000"/>
                  </a:schemeClr>
                </a:solidFill>
              </a:rPr>
              <a:t>системы</a:t>
            </a:r>
            <a:r>
              <a:rPr sz="48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4800" dirty="0" err="1">
                <a:solidFill>
                  <a:schemeClr val="bg1">
                    <a:lumMod val="95000"/>
                  </a:schemeClr>
                </a:solidFill>
              </a:rPr>
              <a:t>для</a:t>
            </a:r>
            <a:r>
              <a:rPr sz="48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4800" dirty="0" err="1">
                <a:solidFill>
                  <a:schemeClr val="bg1">
                    <a:lumMod val="95000"/>
                  </a:schemeClr>
                </a:solidFill>
              </a:rPr>
              <a:t>завода</a:t>
            </a:r>
            <a:r>
              <a:rPr sz="4800" dirty="0">
                <a:solidFill>
                  <a:schemeClr val="bg1">
                    <a:lumMod val="95000"/>
                  </a:schemeClr>
                </a:solidFill>
              </a:rPr>
              <a:t> АО «ММЗ»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898" y="3674054"/>
            <a:ext cx="7315200" cy="10797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B9E5FA"/>
                </a:solidFill>
                <a:latin typeface="Segoe UI"/>
              </a:defRPr>
            </a:pPr>
            <a:r>
              <a:rPr dirty="0" err="1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Студент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Ильин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Артем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Анатольевич, группа ПС-41</a:t>
            </a:r>
            <a:endParaRPr dirty="0">
              <a:solidFill>
                <a:schemeClr val="bg1">
                  <a:lumMod val="9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sz="1500" dirty="0" err="1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Руководитель</a:t>
            </a:r>
            <a:r>
              <a:rPr sz="1500" dirty="0">
                <a:solidFill>
                  <a:schemeClr val="bg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Петров Дмитрий Ильич</a:t>
            </a:r>
            <a:b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Доцент кафедры </a:t>
            </a:r>
            <a:r>
              <a:rPr lang="ru-RU" sz="15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ИиСП</a:t>
            </a:r>
            <a: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исполнительный</a:t>
            </a:r>
            <a:endParaRPr lang="en-US" sz="1500" dirty="0" smtClean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директор АРПО </a:t>
            </a:r>
            <a:r>
              <a:rPr lang="en-US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“</a:t>
            </a:r>
            <a:r>
              <a:rPr lang="ru-RU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ПС СОФТ</a:t>
            </a:r>
            <a:r>
              <a:rPr lang="en-US" sz="15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”</a:t>
            </a:r>
            <a:endParaRPr lang="ru-RU" sz="1500" dirty="0" smtClean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027" name="Picture 3" descr="C:\Users\dulum\Downloads\logo-blue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5484776"/>
            <a:ext cx="4133851" cy="108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dulum\Downloads\logo- (1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728" y="5514227"/>
            <a:ext cx="4133850" cy="102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071898" y="289480"/>
            <a:ext cx="10262680" cy="583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</a:pPr>
            <a:r>
              <a:rPr lang="en-US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Выпускная</a:t>
            </a: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квалификационная</a:t>
            </a: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работа</a:t>
            </a: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· </a:t>
            </a:r>
            <a:r>
              <a:rPr lang="en-US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Кафедра</a:t>
            </a: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И</a:t>
            </a:r>
            <a:r>
              <a:rPr lang="ru-RU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и</a:t>
            </a: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СП · 2026</a:t>
            </a:r>
            <a:endParaRPr lang="en-US" sz="24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86222" y="148977"/>
            <a:ext cx="3819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Актуальность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361741" y="1349493"/>
            <a:ext cx="76437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7DBA"/>
                </a:solidFill>
                <a:latin typeface="Segoe UI"/>
              </a:defRPr>
            </a:pPr>
            <a:r>
              <a:rPr sz="24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Проблема</a:t>
            </a:r>
            <a:r>
              <a:rPr sz="24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разрозненных</a:t>
            </a:r>
            <a:r>
              <a:rPr sz="24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данных</a:t>
            </a:r>
            <a:r>
              <a:rPr sz="24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на</a:t>
            </a:r>
            <a:r>
              <a:rPr sz="24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заводе</a:t>
            </a:r>
            <a:r>
              <a:rPr sz="24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АО «ММЗ»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403" y="2329427"/>
            <a:ext cx="6734405" cy="4006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На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заводе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используются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несколько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учётных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систем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  1С:ERP —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ресурсами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предприятия</a:t>
            </a:r>
            <a:endParaRPr sz="17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  АСУ ММЗ —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производством</a:t>
            </a:r>
            <a:endParaRPr sz="17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  IPS Search —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поиск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нормативно-справочной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информации</a:t>
            </a:r>
            <a:endParaRPr sz="17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  1С:Документооборот —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документацией</a:t>
            </a:r>
            <a:endParaRPr sz="17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endParaRPr sz="17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Один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тот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же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материал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имеет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разные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названия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в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разных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системах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Нет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единого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источника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правды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—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ручная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синхронизация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приводит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к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ошибкам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в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закупках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отгрузках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производственном</a:t>
            </a:r>
            <a:r>
              <a:rPr sz="17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7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учёте</a:t>
            </a:r>
            <a:r>
              <a:rPr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255" y="1005840"/>
            <a:ext cx="3901440" cy="585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38924" y="148977"/>
            <a:ext cx="4083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Цель</a:t>
            </a:r>
            <a:r>
              <a:rPr sz="4000" dirty="0"/>
              <a:t> и </a:t>
            </a:r>
            <a:r>
              <a:rPr sz="4000" dirty="0" err="1"/>
              <a:t>задачи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398830" y="1476183"/>
            <a:ext cx="62937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7DBA"/>
                </a:solidFill>
                <a:latin typeface="Segoe UI"/>
              </a:defRPr>
            </a:pP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Разработка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веб-приложения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MDM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830" y="2216278"/>
            <a:ext cx="6350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680"/>
                </a:solidFill>
                <a:latin typeface="Segoe UI"/>
              </a:defRPr>
            </a:pPr>
            <a:r>
              <a:rPr sz="2400" dirty="0" err="1"/>
              <a:t>Цель</a:t>
            </a:r>
            <a:r>
              <a:rPr sz="2400" dirty="0"/>
              <a:t>: </a:t>
            </a:r>
            <a:r>
              <a:rPr sz="2400" dirty="0" err="1"/>
              <a:t>создать</a:t>
            </a:r>
            <a:r>
              <a:rPr sz="2400" dirty="0"/>
              <a:t> </a:t>
            </a:r>
            <a:r>
              <a:rPr sz="2400" dirty="0" err="1"/>
              <a:t>веб-приложение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централизованного</a:t>
            </a:r>
            <a:r>
              <a:rPr sz="2400" dirty="0"/>
              <a:t> </a:t>
            </a:r>
            <a:r>
              <a:rPr sz="2400" dirty="0" err="1"/>
              <a:t>управления</a:t>
            </a:r>
            <a:r>
              <a:rPr sz="2400" dirty="0"/>
              <a:t> </a:t>
            </a:r>
            <a:r>
              <a:rPr sz="2400" dirty="0" err="1"/>
              <a:t>мастер-данными</a:t>
            </a:r>
            <a:r>
              <a:rPr sz="2400" dirty="0"/>
              <a:t> </a:t>
            </a:r>
            <a:r>
              <a:rPr sz="2400" dirty="0" err="1"/>
              <a:t>завода</a:t>
            </a:r>
            <a:r>
              <a:rPr sz="24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981" y="3824918"/>
            <a:ext cx="1015373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Задачи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справочниками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произвольными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атрибутами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CRUD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записей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иерархией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версионированием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мягким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удалением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Классификаторы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фасетной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структурой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декодированием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шифров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Шина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интеграции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вебхуки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+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обработка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конфликтов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Импорт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/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экспорт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CSV,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аутентификация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(JWT),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веб-интерфейс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342900" indent="-342900">
              <a:spcAft>
                <a:spcPts val="48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Контроль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качества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данных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аудит</a:t>
            </a:r>
            <a:r>
              <a:rPr sz="2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0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изменений</a:t>
            </a:r>
            <a:endParaRPr sz="20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31" y="1227242"/>
            <a:ext cx="5067672" cy="2871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97483" y="138133"/>
            <a:ext cx="449223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Анализ</a:t>
            </a:r>
            <a:r>
              <a:rPr sz="4000" dirty="0"/>
              <a:t> </a:t>
            </a:r>
            <a:r>
              <a:rPr sz="4000" dirty="0" err="1"/>
              <a:t>аналогов</a:t>
            </a:r>
            <a:endParaRPr sz="4000" dirty="0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4631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Продукт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144631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Плюсы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3474720" cy="45720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79" y="1446311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Минусы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199495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680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Informatica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MDM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920240"/>
            <a:ext cx="36576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799" y="199495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Полнофункциональный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55279" y="1920240"/>
            <a:ext cx="347472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55279" y="199495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Дорогой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избыточен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для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завода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2423160"/>
            <a:ext cx="32004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249787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680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Ataccama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423160"/>
            <a:ext cx="36576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249787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Умный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data 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423160"/>
            <a:ext cx="347472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79" y="2469661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Высокая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стоимость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сложный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3000791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680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Talend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MDM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926080"/>
            <a:ext cx="365760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799" y="2989118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Open-source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база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55279" y="2926080"/>
            <a:ext cx="3474720" cy="457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5279" y="2989117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Ограниченная</a:t>
            </a:r>
            <a:r>
              <a:rPr sz="1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1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функциональность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3866745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DBA"/>
                </a:solidFill>
                <a:latin typeface="Segoe UI"/>
              </a:defRPr>
            </a:pPr>
            <a:r>
              <a:rPr sz="2400" dirty="0" err="1"/>
              <a:t>Вывод</a:t>
            </a:r>
            <a:r>
              <a:rPr sz="2400" dirty="0"/>
              <a:t>: </a:t>
            </a:r>
            <a:r>
              <a:rPr sz="2400" dirty="0" err="1"/>
              <a:t>необходима</a:t>
            </a:r>
            <a:r>
              <a:rPr sz="2400" dirty="0"/>
              <a:t> </a:t>
            </a:r>
            <a:r>
              <a:rPr sz="2400" dirty="0" err="1"/>
              <a:t>собственная</a:t>
            </a:r>
            <a:r>
              <a:rPr sz="2400" dirty="0"/>
              <a:t> </a:t>
            </a:r>
            <a:r>
              <a:rPr sz="2400" dirty="0" err="1"/>
              <a:t>разработка</a:t>
            </a:r>
            <a:r>
              <a:rPr sz="2400" dirty="0"/>
              <a:t> </a:t>
            </a:r>
            <a:r>
              <a:rPr sz="2400" dirty="0" err="1"/>
              <a:t>под</a:t>
            </a:r>
            <a:r>
              <a:rPr sz="2400" dirty="0"/>
              <a:t> </a:t>
            </a:r>
            <a:r>
              <a:rPr sz="2400" dirty="0" err="1"/>
              <a:t>специфику</a:t>
            </a:r>
            <a:r>
              <a:rPr sz="2400" dirty="0"/>
              <a:t> </a:t>
            </a:r>
            <a:r>
              <a:rPr sz="2400" dirty="0" err="1"/>
              <a:t>завода</a:t>
            </a:r>
            <a:endParaRPr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4542817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Ключевое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отличие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фасетные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классификаторы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декодированием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шифров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—</a:t>
            </a:r>
            <a:b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функция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отсутствующая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в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рассмотренных</a:t>
            </a:r>
            <a:r>
              <a:rPr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400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аналогах</a:t>
            </a:r>
            <a:endParaRPr sz="2400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29195" y="137160"/>
            <a:ext cx="49202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Выбор</a:t>
            </a:r>
            <a:r>
              <a:rPr sz="4000" dirty="0"/>
              <a:t> </a:t>
            </a:r>
            <a:r>
              <a:rPr sz="4000" dirty="0" err="1"/>
              <a:t>технологий</a:t>
            </a:r>
            <a:endParaRPr sz="4000" dirty="0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2743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8418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C# ASP.NET Core 9</a:t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Entity </a:t>
            </a:r>
            <a:r>
              <a:rPr sz="1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Framework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/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REST API + JWT </a:t>
            </a: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Auth</a:t>
            </a:r>
            <a:endParaRPr sz="1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560320" cy="2743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solidFill>
            <a:srgbClr val="007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5527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88418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Vue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3 + </a:t>
            </a: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Pinia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/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Vue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Router + </a:t>
            </a: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Axios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/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Vite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(</a:t>
            </a: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сборка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560320" cy="2743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583680" y="2588416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PostgreSQL 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(prod)</a:t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SQLite (dev/test)</a:t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EF Core 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63040"/>
            <a:ext cx="2560320" cy="2743200"/>
          </a:xfrm>
          <a:prstGeom prst="rect">
            <a:avLst/>
          </a:prstGeom>
          <a:solidFill>
            <a:srgbClr val="B9E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560320" cy="548640"/>
          </a:xfrm>
          <a:prstGeom prst="rect">
            <a:avLst/>
          </a:prstGeom>
          <a:solidFill>
            <a:srgbClr val="007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Интеграция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9418320" y="2588417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rPr sz="1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Webhook</a:t>
            </a: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HTTPS</a:t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JSON payloads</a:t>
            </a:r>
            <a:b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sz="1600" dirty="0">
                <a:latin typeface="Segoe UI Black" panose="020B0A02040204020203" pitchFamily="34" charset="0"/>
                <a:ea typeface="Segoe UI Black" panose="020B0A02040204020203" pitchFamily="34" charset="0"/>
              </a:rPr>
              <a:t>JWT Bearer</a:t>
            </a:r>
          </a:p>
        </p:txBody>
      </p:sp>
      <p:pic>
        <p:nvPicPr>
          <p:cNvPr id="19458" name="Picture 2" descr="C:\Users\dulum\Downloads\Csharp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4268264"/>
            <a:ext cx="2263066" cy="226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 descr="C:\Users\dulum\Downloads\Vu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640" y="4680117"/>
            <a:ext cx="1439359" cy="143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C:\Users\dulum\Downloads\Logo_PostgreSQ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334" y="4733937"/>
            <a:ext cx="1343251" cy="138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1" name="Picture 5" descr="C:\Users\dulum\Downloads\JWT_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26" y="4268264"/>
            <a:ext cx="2317547" cy="229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309" y="272087"/>
            <a:ext cx="12084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2400" dirty="0" err="1"/>
              <a:t>Архитектура</a:t>
            </a:r>
            <a:r>
              <a:rPr sz="2400" dirty="0"/>
              <a:t> </a:t>
            </a:r>
            <a:r>
              <a:rPr sz="2400" dirty="0" err="1"/>
              <a:t>системы</a:t>
            </a:r>
            <a:r>
              <a:rPr sz="2400" dirty="0"/>
              <a:t> (C4 Level </a:t>
            </a:r>
            <a:r>
              <a:rPr sz="2400" dirty="0" smtClean="0"/>
              <a:t>1)</a:t>
            </a:r>
            <a:r>
              <a:rPr lang="ru-RU" sz="2400" dirty="0" smtClean="0"/>
              <a:t>. Контекст. Пользователи и внешние системы</a:t>
            </a:r>
            <a:endParaRPr sz="2400" dirty="0"/>
          </a:p>
        </p:txBody>
      </p:sp>
      <p:pic>
        <p:nvPicPr>
          <p:cNvPr id="2051" name="Picture 3" descr="C:\Users\dulum\Desktop\ДИПЛОМ\MDMAgent\for_presentation\png\C4_Contex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06" y="1187680"/>
            <a:ext cx="11319482" cy="56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9487" y="225681"/>
            <a:ext cx="10698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Архитектура</a:t>
            </a:r>
            <a:r>
              <a:rPr dirty="0"/>
              <a:t> (C4 Level 2</a:t>
            </a:r>
            <a:r>
              <a:rPr dirty="0" smtClean="0"/>
              <a:t>)</a:t>
            </a:r>
            <a:r>
              <a:rPr lang="ru-RU" dirty="0" smtClean="0"/>
              <a:t>. </a:t>
            </a:r>
            <a:r>
              <a:rPr lang="ru-RU" dirty="0"/>
              <a:t>Контейнеры: </a:t>
            </a:r>
            <a:r>
              <a:rPr lang="en-US" dirty="0"/>
              <a:t>SPA → API → </a:t>
            </a:r>
            <a:r>
              <a:rPr lang="ru-RU" dirty="0"/>
              <a:t>БД</a:t>
            </a:r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3078" name="Picture 6" descr="C:\Users\dulum\Desktop\ДИПЛОМ\MDMAgent\for_presentation\png\C4_Contain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5676" y="1854435"/>
            <a:ext cx="12355921" cy="422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71037" y="234613"/>
            <a:ext cx="10698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Архитектура</a:t>
            </a:r>
            <a:r>
              <a:rPr dirty="0"/>
              <a:t> (C4 Level 3</a:t>
            </a:r>
            <a:r>
              <a:rPr dirty="0" smtClean="0"/>
              <a:t>)</a:t>
            </a:r>
            <a:r>
              <a:rPr lang="ru-RU" dirty="0" smtClean="0"/>
              <a:t>. </a:t>
            </a:r>
            <a:r>
              <a:rPr lang="ru-RU" dirty="0"/>
              <a:t>Компоненты </a:t>
            </a:r>
            <a:r>
              <a:rPr lang="en-US" dirty="0" smtClean="0"/>
              <a:t>Backend</a:t>
            </a:r>
            <a:endParaRPr lang="en-US" dirty="0"/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4098" name="Picture 2" descr="C:\Users\dulum\Desktop\ДИПЛОМ\MDMAgent\for_presentation\png\C4_Compon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7" y="1302793"/>
            <a:ext cx="1158240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4825" y="270429"/>
            <a:ext cx="1189692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2700" dirty="0" err="1"/>
              <a:t>Функциональная</a:t>
            </a:r>
            <a:r>
              <a:rPr sz="2700" dirty="0"/>
              <a:t> </a:t>
            </a:r>
            <a:r>
              <a:rPr sz="2700" dirty="0" err="1" smtClean="0"/>
              <a:t>схема</a:t>
            </a:r>
            <a:r>
              <a:rPr lang="en-US" sz="2700" dirty="0" smtClean="0"/>
              <a:t>. </a:t>
            </a:r>
            <a:r>
              <a:rPr lang="ru-RU" sz="2700" dirty="0"/>
              <a:t>Слои системы и протоколы взаимодействия</a:t>
            </a:r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5122" name="Picture 2" descr="C:\Users\dulum\Desktop\ДИПЛОМ\MDMAgent\for_presentation\png\Functional_Schem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39" y="1071384"/>
            <a:ext cx="8866416" cy="553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399" y="234613"/>
            <a:ext cx="121916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Информационная</a:t>
            </a:r>
            <a:r>
              <a:rPr dirty="0"/>
              <a:t> </a:t>
            </a:r>
            <a:r>
              <a:rPr dirty="0" err="1" smtClean="0"/>
              <a:t>схема</a:t>
            </a:r>
            <a:r>
              <a:rPr lang="en-US" dirty="0" smtClean="0"/>
              <a:t>. </a:t>
            </a:r>
            <a:r>
              <a:rPr lang="ru-RU" dirty="0"/>
              <a:t>Сущности и типы хранимой информации</a:t>
            </a:r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6146" name="Picture 2" descr="C:\Users\dulum\Desktop\ДИПЛОМ\MDMAgent\for_presentation\png\Information_Schem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510" y="1188720"/>
            <a:ext cx="9051471" cy="543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127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Структура</a:t>
            </a:r>
            <a:r>
              <a:rPr sz="4000" dirty="0"/>
              <a:t> </a:t>
            </a:r>
            <a:r>
              <a:rPr sz="4000" dirty="0" err="1"/>
              <a:t>базы</a:t>
            </a:r>
            <a:r>
              <a:rPr sz="4000" dirty="0"/>
              <a:t> </a:t>
            </a:r>
            <a:r>
              <a:rPr sz="4000" dirty="0" err="1"/>
              <a:t>данных</a:t>
            </a:r>
            <a:endParaRPr sz="4000" dirty="0"/>
          </a:p>
        </p:txBody>
      </p:sp>
      <p:pic>
        <p:nvPicPr>
          <p:cNvPr id="7171" name="Picture 3" descr="C:\Users\dulum\Desktop\ДИПЛОМ\MDMAgent\for_presentation\png\ER_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71" y="1551895"/>
            <a:ext cx="11893551" cy="460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7270" y="158553"/>
            <a:ext cx="106984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Варианты</a:t>
            </a:r>
            <a:r>
              <a:rPr sz="4000" dirty="0"/>
              <a:t> </a:t>
            </a:r>
            <a:r>
              <a:rPr sz="4000" dirty="0" err="1" smtClean="0"/>
              <a:t>использования</a:t>
            </a:r>
            <a:r>
              <a:rPr lang="ru-RU" sz="4000" dirty="0" smtClean="0"/>
              <a:t> </a:t>
            </a:r>
            <a:r>
              <a:rPr lang="en-US" sz="4000" dirty="0" smtClean="0"/>
              <a:t>( Use Cases ) </a:t>
            </a:r>
            <a:endParaRPr lang="en-US" sz="4000" dirty="0"/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11267" name="Picture 3" descr="C:\Users\dulum\Desktop\ДИПЛОМ\MDMAgent\for_presentation\png\Use_Cas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4" y="1293516"/>
            <a:ext cx="12068385" cy="493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499" y="190500"/>
            <a:ext cx="125920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3600" dirty="0" err="1"/>
              <a:t>Сценарий</a:t>
            </a:r>
            <a:r>
              <a:rPr sz="3600" dirty="0"/>
              <a:t>: </a:t>
            </a:r>
            <a:r>
              <a:rPr sz="3600" dirty="0" err="1"/>
              <a:t>синхронизация</a:t>
            </a:r>
            <a:r>
              <a:rPr sz="3600" dirty="0"/>
              <a:t> с </a:t>
            </a:r>
            <a:r>
              <a:rPr sz="3600" dirty="0" err="1"/>
              <a:t>внешней</a:t>
            </a:r>
            <a:r>
              <a:rPr sz="3600" dirty="0"/>
              <a:t> </a:t>
            </a:r>
            <a:r>
              <a:rPr sz="3600" dirty="0" err="1" smtClean="0"/>
              <a:t>системой</a:t>
            </a:r>
            <a:endParaRPr lang="ru-RU" sz="3600" dirty="0"/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sz="2800" dirty="0"/>
          </a:p>
        </p:txBody>
      </p:sp>
      <p:pic>
        <p:nvPicPr>
          <p:cNvPr id="8195" name="Picture 3" descr="C:\Users\dulum\Desktop\ДИПЛОМ\MDMAgent\for_presentation\png\Sequence_Syn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538" y="1191986"/>
            <a:ext cx="5770617" cy="566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41170" y="14859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Сценарий</a:t>
            </a:r>
            <a:r>
              <a:rPr sz="4000" dirty="0"/>
              <a:t>: </a:t>
            </a:r>
            <a:r>
              <a:rPr sz="4000" dirty="0" err="1"/>
              <a:t>декодирование</a:t>
            </a:r>
            <a:r>
              <a:rPr sz="4000" dirty="0"/>
              <a:t> </a:t>
            </a:r>
            <a:r>
              <a:rPr sz="4000" dirty="0" err="1" smtClean="0"/>
              <a:t>шифра</a:t>
            </a:r>
            <a:r>
              <a:rPr lang="ru-RU" sz="4000" dirty="0" smtClean="0"/>
              <a:t> </a:t>
            </a:r>
            <a:endParaRPr sz="4000" dirty="0"/>
          </a:p>
        </p:txBody>
      </p:sp>
      <p:pic>
        <p:nvPicPr>
          <p:cNvPr id="9219" name="Picture 3" descr="C:\Users\dulum\Desktop\ДИПЛОМ\MDMAgent\for_presentation\png\Sequence_Dec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79" y="1205198"/>
            <a:ext cx="6849762" cy="565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0695" y="214791"/>
            <a:ext cx="11811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3600" dirty="0" err="1" smtClean="0"/>
              <a:t>Развёртывание</a:t>
            </a:r>
            <a:r>
              <a:rPr lang="ru-RU" sz="3600" dirty="0" smtClean="0"/>
              <a:t>. </a:t>
            </a:r>
            <a:r>
              <a:rPr lang="ru-RU" sz="3600" dirty="0"/>
              <a:t>Физическая архитектура системы</a:t>
            </a:r>
          </a:p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pic>
        <p:nvPicPr>
          <p:cNvPr id="10242" name="Picture 2" descr="C:\Users\dulum\Desktop\ДИПЛОМ\MDMAgent\for_presentation\png\Deploym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056" y="1292009"/>
            <a:ext cx="5503408" cy="519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46020" y="18669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err="1" smtClean="0"/>
              <a:t>Логинация</a:t>
            </a:r>
            <a:r>
              <a:rPr lang="ru-RU" sz="4000" dirty="0"/>
              <a:t> </a:t>
            </a:r>
            <a:r>
              <a:rPr lang="ru-RU" sz="4000" dirty="0" smtClean="0"/>
              <a:t>и регистрация</a:t>
            </a:r>
            <a:endParaRPr sz="4000" dirty="0"/>
          </a:p>
        </p:txBody>
      </p:sp>
      <p:pic>
        <p:nvPicPr>
          <p:cNvPr id="12293" name="Picture 5" descr="C:\Users\dulum\Pictures\Screenshots\логин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0" y="1450976"/>
            <a:ext cx="5632450" cy="471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C:\Users\dulum\Pictures\Screenshots\регистрация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018" y="1450976"/>
            <a:ext cx="4980164" cy="471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3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dirty="0" smtClean="0"/>
              <a:t>Список справочников</a:t>
            </a:r>
            <a:endParaRPr dirty="0"/>
          </a:p>
        </p:txBody>
      </p:sp>
      <p:pic>
        <p:nvPicPr>
          <p:cNvPr id="13315" name="Picture 3" descr="C:\Users\dulum\Pictures\Screenshots\список справочников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5550"/>
            <a:ext cx="12192000" cy="56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61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dirty="0" smtClean="0"/>
              <a:t>Просмотр справочника</a:t>
            </a:r>
            <a:endParaRPr dirty="0"/>
          </a:p>
        </p:txBody>
      </p:sp>
      <p:pic>
        <p:nvPicPr>
          <p:cNvPr id="14338" name="Picture 2" descr="C:\Users\dulum\Pictures\Screenshots\просмотр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300"/>
            <a:ext cx="12192000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84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46070" y="148977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smtClean="0"/>
              <a:t>Создание справочника</a:t>
            </a:r>
            <a:endParaRPr sz="4000" dirty="0"/>
          </a:p>
        </p:txBody>
      </p:sp>
      <p:pic>
        <p:nvPicPr>
          <p:cNvPr id="15363" name="Picture 3" descr="C:\Users\dulum\Pictures\Screenshots\Снимок экрана (90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197" y="1212850"/>
            <a:ext cx="8623300" cy="5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61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7870" y="148977"/>
            <a:ext cx="78600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smtClean="0"/>
              <a:t>Редактирование справочника</a:t>
            </a:r>
            <a:endParaRPr sz="4000" dirty="0"/>
          </a:p>
        </p:txBody>
      </p:sp>
      <p:pic>
        <p:nvPicPr>
          <p:cNvPr id="16388" name="Picture 4" descr="C:\Users\dulum\Pictures\Screenshots\редактирование созданного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10" y="1295400"/>
            <a:ext cx="99187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1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97651" y="148977"/>
            <a:ext cx="7396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smtClean="0"/>
              <a:t>Просмотр классификаторов</a:t>
            </a:r>
            <a:endParaRPr sz="4000" dirty="0"/>
          </a:p>
        </p:txBody>
      </p:sp>
      <p:pic>
        <p:nvPicPr>
          <p:cNvPr id="17410" name="Picture 2" descr="C:\Users\dulum\Pictures\Screenshots\Снимок экрана (9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22" y="1270000"/>
            <a:ext cx="11525250" cy="55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96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97651" y="148977"/>
            <a:ext cx="7396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smtClean="0"/>
              <a:t>Декодирование шифров</a:t>
            </a:r>
            <a:endParaRPr sz="4000" dirty="0"/>
          </a:p>
        </p:txBody>
      </p:sp>
      <p:pic>
        <p:nvPicPr>
          <p:cNvPr id="18434" name="Picture 2" descr="C:\Users\dulum\Pictures\Screenshots\Снимок экрана (9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7" y="1295400"/>
            <a:ext cx="114173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06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52647" y="148977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/>
              <a:t>Интеграция</a:t>
            </a:r>
            <a:r>
              <a:rPr sz="4000" dirty="0"/>
              <a:t> и </a:t>
            </a:r>
            <a:r>
              <a:rPr sz="4000" dirty="0" err="1"/>
              <a:t>аудит</a:t>
            </a:r>
            <a:endParaRPr sz="4000" dirty="0"/>
          </a:p>
        </p:txBody>
      </p:sp>
      <p:pic>
        <p:nvPicPr>
          <p:cNvPr id="6" name="Picture 5" descr="Integration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26" y="1976661"/>
            <a:ext cx="5303520" cy="3474720"/>
          </a:xfrm>
          <a:prstGeom prst="rect">
            <a:avLst/>
          </a:prstGeom>
        </p:spPr>
      </p:pic>
      <p:pic>
        <p:nvPicPr>
          <p:cNvPr id="7" name="Picture 6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6661"/>
            <a:ext cx="53035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0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47485" y="148977"/>
            <a:ext cx="34611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 smtClean="0"/>
              <a:t>Заключение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Централизованное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НСИ </a:t>
            </a:r>
            <a:endParaRPr lang="en-US" sz="2600" dirty="0" smtClean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справочниками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произвольными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атрибутами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Классификаторы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с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фасетной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структурой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декодированием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шифров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Шина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интеграции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: 4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внешние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системы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вебхуки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конфликты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Версионирование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мягкое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удаление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полный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аудит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изменений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Контроль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качества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данных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✓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Импорт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/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экспорт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CSV, </a:t>
            </a:r>
            <a:r>
              <a:rPr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сопоставление</a:t>
            </a:r>
            <a:r>
              <a:rPr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6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записей</a:t>
            </a:r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2336631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sz="7200" dirty="0" err="1"/>
              <a:t>Спасибо</a:t>
            </a:r>
            <a:r>
              <a:rPr sz="7200" dirty="0"/>
              <a:t> </a:t>
            </a:r>
            <a:r>
              <a:rPr sz="7200" dirty="0" err="1"/>
              <a:t>за</a:t>
            </a:r>
            <a:r>
              <a:rPr sz="7200" dirty="0"/>
              <a:t> </a:t>
            </a:r>
            <a:r>
              <a:rPr sz="7200" dirty="0" err="1"/>
              <a:t>внимание</a:t>
            </a:r>
            <a:r>
              <a:rPr sz="7200" dirty="0"/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696511"/>
            <a:ext cx="5760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9E5FA"/>
                </a:solidFill>
                <a:latin typeface="Segoe UI"/>
              </a:defRPr>
            </a:pPr>
            <a:r>
              <a:rPr sz="4000" dirty="0" err="1"/>
              <a:t>Вопросы</a:t>
            </a:r>
            <a:r>
              <a:rPr sz="400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382</Words>
  <Application>Microsoft Office PowerPoint</Application>
  <PresentationFormat>Произвольный</PresentationFormat>
  <Paragraphs>79</Paragraphs>
  <Slides>25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Ильин Артём</dc:creator>
  <dc:description>generated using python-pptx</dc:description>
  <cp:lastModifiedBy>Ильин Артём</cp:lastModifiedBy>
  <cp:revision>23</cp:revision>
  <dcterms:created xsi:type="dcterms:W3CDTF">2013-01-27T09:14:16Z</dcterms:created>
  <dcterms:modified xsi:type="dcterms:W3CDTF">2026-06-01T23:16:40Z</dcterms:modified>
</cp:coreProperties>
</file>